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DM Serif Display" pitchFamily="2" charset="0"/>
      <p:regular r:id="rId19"/>
    </p:embeddedFont>
    <p:embeddedFont>
      <p:font typeface="Open Sauce" panose="020B0604020202020204" charset="0"/>
      <p:regular r:id="rId20"/>
    </p:embeddedFont>
    <p:embeddedFont>
      <p:font typeface="Open Sauce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3" name="TextBox 3"/>
          <p:cNvSpPr txBox="1"/>
          <p:nvPr/>
        </p:nvSpPr>
        <p:spPr>
          <a:xfrm>
            <a:off x="56172" y="551419"/>
            <a:ext cx="18175657" cy="363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Огляд</a:t>
            </a:r>
            <a:r>
              <a:rPr lang="en-US" sz="10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JavaScript ES6 (і </a:t>
            </a:r>
            <a:r>
              <a:rPr lang="en-US" sz="104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новіших</a:t>
            </a:r>
            <a:r>
              <a:rPr lang="en-US" sz="104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)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24025" y="4938206"/>
            <a:ext cx="17439949" cy="165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 spc="48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ВІДМІННОСТІ ВІД ПОПЕРЕДНІХ ВЕРСІЙ СТАНДАРТУ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09526" y="9358630"/>
            <a:ext cx="3668948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Лук’янчук Денис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09526" y="9102407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ЗРОБИВ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Box 3"/>
          <p:cNvSpPr txBox="1"/>
          <p:nvPr/>
        </p:nvSpPr>
        <p:spPr>
          <a:xfrm>
            <a:off x="1166399" y="1233825"/>
            <a:ext cx="5309114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Що таке ECMAScript</a:t>
            </a:r>
          </a:p>
        </p:txBody>
      </p:sp>
      <p:sp>
        <p:nvSpPr>
          <p:cNvPr id="4" name="AutoShape 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5" name="TextBox 5"/>
          <p:cNvSpPr txBox="1"/>
          <p:nvPr/>
        </p:nvSpPr>
        <p:spPr>
          <a:xfrm>
            <a:off x="1166399" y="4675711"/>
            <a:ext cx="15918918" cy="198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273"/>
              </a:lnSpc>
              <a:spcBef>
                <a:spcPct val="0"/>
              </a:spcBef>
            </a:pPr>
            <a:r>
              <a:rPr lang="en-US" sz="3766" spc="37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ECMASCRIPT (ES) — О</a:t>
            </a:r>
            <a:r>
              <a:rPr lang="uk-UA" sz="3766" spc="37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ФІЦІЙНА</a:t>
            </a:r>
            <a:r>
              <a:rPr lang="en-US" sz="3766" spc="37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uk-UA" sz="3766" spc="37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СП</a:t>
            </a:r>
            <a:r>
              <a:rPr lang="en-US" sz="3766" spc="376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ЕЦИФІКАЦІЯ, ЗА ЯКОЮ РОЗВИВАЄТЬСЯ МОВА JAVASCRIPT.</a:t>
            </a:r>
          </a:p>
          <a:p>
            <a:pPr algn="just">
              <a:lnSpc>
                <a:spcPts val="5273"/>
              </a:lnSpc>
              <a:spcBef>
                <a:spcPct val="0"/>
              </a:spcBef>
            </a:pPr>
            <a:endParaRPr lang="en-US" sz="3766" spc="376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TextBox 3"/>
          <p:cNvSpPr txBox="1"/>
          <p:nvPr/>
        </p:nvSpPr>
        <p:spPr>
          <a:xfrm>
            <a:off x="8174577" y="2675255"/>
            <a:ext cx="8307875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змінна</a:t>
            </a:r>
            <a:r>
              <a:rPr lang="en-US" sz="3600" u="none" strike="noStrike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600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783262" y="2674320"/>
            <a:ext cx="909958" cy="90995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810680" y="2772429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74577" y="4711700"/>
            <a:ext cx="8307875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Асинхронність через </a:t>
            </a:r>
            <a:r>
              <a:rPr lang="en-US" sz="3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</a:t>
            </a:r>
            <a:r>
              <a:rPr lang="en-US" sz="3600" b="1" u="none" strike="noStrik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allback hell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83262" y="4678996"/>
            <a:ext cx="909958" cy="909958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820205" y="4777105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74577" y="6744961"/>
            <a:ext cx="8307875" cy="67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60"/>
              </a:lnSpc>
            </a:pPr>
            <a:r>
              <a:rPr lang="en-US" sz="36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Відсутність </a:t>
            </a:r>
            <a:r>
              <a:rPr lang="en-US" sz="36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класів, модулів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783262" y="6684962"/>
            <a:ext cx="909958" cy="9099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uk-UA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810680" y="6783072"/>
            <a:ext cx="817023" cy="608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20"/>
              </a:lnSpc>
            </a:pPr>
            <a:r>
              <a:rPr lang="en-US" sz="32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66399" y="1233825"/>
            <a:ext cx="4213927" cy="22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Проблеми до ES6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671125" y="9142095"/>
            <a:ext cx="3450476" cy="273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3</a:t>
            </a:r>
          </a:p>
        </p:txBody>
      </p:sp>
      <p:sp>
        <p:nvSpPr>
          <p:cNvPr id="20" name="AutoShape 20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7607013" y="0"/>
            <a:ext cx="9991473" cy="5608002"/>
          </a:xfrm>
          <a:custGeom>
            <a:avLst/>
            <a:gdLst/>
            <a:ahLst/>
            <a:cxnLst/>
            <a:rect l="l" t="t" r="r" b="b"/>
            <a:pathLst>
              <a:path w="9991473" h="5608002">
                <a:moveTo>
                  <a:pt x="0" y="0"/>
                </a:moveTo>
                <a:lnTo>
                  <a:pt x="9991473" y="0"/>
                </a:lnTo>
                <a:lnTo>
                  <a:pt x="9991473" y="5608002"/>
                </a:lnTo>
                <a:lnTo>
                  <a:pt x="0" y="5608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8402129" y="4392073"/>
            <a:ext cx="8401242" cy="6113575"/>
          </a:xfrm>
          <a:custGeom>
            <a:avLst/>
            <a:gdLst/>
            <a:ahLst/>
            <a:cxnLst/>
            <a:rect l="l" t="t" r="r" b="b"/>
            <a:pathLst>
              <a:path w="8401242" h="6113575">
                <a:moveTo>
                  <a:pt x="0" y="0"/>
                </a:moveTo>
                <a:lnTo>
                  <a:pt x="8401242" y="0"/>
                </a:lnTo>
                <a:lnTo>
                  <a:pt x="8401242" y="6113575"/>
                </a:lnTo>
                <a:lnTo>
                  <a:pt x="0" y="611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95"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5309114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Let і Const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0482" y="3291840"/>
            <a:ext cx="6952434" cy="1456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b="1" spc="21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LET </a:t>
            </a:r>
            <a:r>
              <a:rPr lang="en-US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— М</a:t>
            </a:r>
            <a:r>
              <a:rPr lang="uk-UA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АЄ</a:t>
            </a:r>
            <a:r>
              <a:rPr lang="en-US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uk-UA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БЛОЧНУ</a:t>
            </a:r>
            <a:r>
              <a:rPr lang="en-US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uk-UA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ОБЛАСТЬ</a:t>
            </a:r>
            <a:r>
              <a:rPr lang="en-US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uk-UA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ВИДИМО</a:t>
            </a:r>
            <a:r>
              <a:rPr lang="en-US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СТІ. ЗМІННА ІСНУЄ ЛИШЕ В БЛОЦІ КОДУ (НАПРИКЛАД, IF, FOR, {}).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spc="21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20482" y="6229725"/>
            <a:ext cx="6050813" cy="182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  <a:spcBef>
                <a:spcPct val="0"/>
              </a:spcBef>
            </a:pPr>
            <a:r>
              <a:rPr lang="en-US" sz="2100" b="1" spc="21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CONST</a:t>
            </a:r>
            <a:r>
              <a:rPr lang="uk-UA" sz="2100" b="1" spc="21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100" b="1" spc="21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—</a:t>
            </a:r>
            <a:r>
              <a:rPr lang="uk-UA" sz="2100" b="1" spc="210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О</a:t>
            </a:r>
            <a:r>
              <a:rPr lang="uk-UA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ГОЛОШУЄ</a:t>
            </a:r>
            <a:r>
              <a:rPr lang="en-US" sz="2100" spc="210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КОНСТАНТУ. ЗНАЧЕННЯ НЕ МОЖЕ БУТИ ЗМІНЕНЕ ПІСЛЯ ІНІЦІАЛІЗАЦІЇ. ТАКОЖ МАЄ БЛОЧНУ ОБЛАСТЬ ВИДИМОСТІ.</a:t>
            </a:r>
          </a:p>
          <a:p>
            <a:pPr algn="just">
              <a:lnSpc>
                <a:spcPts val="2940"/>
              </a:lnSpc>
              <a:spcBef>
                <a:spcPct val="0"/>
              </a:spcBef>
            </a:pPr>
            <a:endParaRPr lang="en-US" sz="2100" spc="21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-414575" y="2573898"/>
            <a:ext cx="10316537" cy="6037084"/>
          </a:xfrm>
          <a:custGeom>
            <a:avLst/>
            <a:gdLst/>
            <a:ahLst/>
            <a:cxnLst/>
            <a:rect l="l" t="t" r="r" b="b"/>
            <a:pathLst>
              <a:path w="10316537" h="6037084">
                <a:moveTo>
                  <a:pt x="0" y="0"/>
                </a:moveTo>
                <a:lnTo>
                  <a:pt x="10316537" y="0"/>
                </a:lnTo>
                <a:lnTo>
                  <a:pt x="10316537" y="6037085"/>
                </a:lnTo>
                <a:lnTo>
                  <a:pt x="0" y="6037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8425152" y="2573898"/>
            <a:ext cx="10316537" cy="6037084"/>
          </a:xfrm>
          <a:custGeom>
            <a:avLst/>
            <a:gdLst/>
            <a:ahLst/>
            <a:cxnLst/>
            <a:rect l="l" t="t" r="r" b="b"/>
            <a:pathLst>
              <a:path w="10316537" h="6037084">
                <a:moveTo>
                  <a:pt x="0" y="0"/>
                </a:moveTo>
                <a:lnTo>
                  <a:pt x="10316537" y="0"/>
                </a:lnTo>
                <a:lnTo>
                  <a:pt x="10316537" y="6037085"/>
                </a:lnTo>
                <a:lnTo>
                  <a:pt x="0" y="6037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599360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Hoisting-пастка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219420" y="2045243"/>
            <a:ext cx="9152710" cy="7576410"/>
          </a:xfrm>
          <a:custGeom>
            <a:avLst/>
            <a:gdLst/>
            <a:ahLst/>
            <a:cxnLst/>
            <a:rect l="l" t="t" r="r" b="b"/>
            <a:pathLst>
              <a:path w="9152710" h="7576410">
                <a:moveTo>
                  <a:pt x="0" y="0"/>
                </a:moveTo>
                <a:lnTo>
                  <a:pt x="9152710" y="0"/>
                </a:lnTo>
                <a:lnTo>
                  <a:pt x="9152710" y="7576410"/>
                </a:lnTo>
                <a:lnTo>
                  <a:pt x="0" y="75764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9126141" y="2319040"/>
            <a:ext cx="9161859" cy="6939260"/>
          </a:xfrm>
          <a:custGeom>
            <a:avLst/>
            <a:gdLst/>
            <a:ahLst/>
            <a:cxnLst/>
            <a:rect l="l" t="t" r="r" b="b"/>
            <a:pathLst>
              <a:path w="9161859" h="6939260">
                <a:moveTo>
                  <a:pt x="0" y="0"/>
                </a:moveTo>
                <a:lnTo>
                  <a:pt x="9161859" y="0"/>
                </a:lnTo>
                <a:lnTo>
                  <a:pt x="9161859" y="6939260"/>
                </a:lnTo>
                <a:lnTo>
                  <a:pt x="0" y="6939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725875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Стрілкові функції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-362493" y="2604790"/>
            <a:ext cx="10316537" cy="6037084"/>
          </a:xfrm>
          <a:custGeom>
            <a:avLst/>
            <a:gdLst/>
            <a:ahLst/>
            <a:cxnLst/>
            <a:rect l="l" t="t" r="r" b="b"/>
            <a:pathLst>
              <a:path w="10316537" h="6037084">
                <a:moveTo>
                  <a:pt x="0" y="0"/>
                </a:moveTo>
                <a:lnTo>
                  <a:pt x="10316537" y="0"/>
                </a:lnTo>
                <a:lnTo>
                  <a:pt x="10316537" y="6037084"/>
                </a:lnTo>
                <a:lnTo>
                  <a:pt x="0" y="6037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8425152" y="2604790"/>
            <a:ext cx="10316537" cy="6037084"/>
          </a:xfrm>
          <a:custGeom>
            <a:avLst/>
            <a:gdLst/>
            <a:ahLst/>
            <a:cxnLst/>
            <a:rect l="l" t="t" r="r" b="b"/>
            <a:pathLst>
              <a:path w="10316537" h="6037084">
                <a:moveTo>
                  <a:pt x="0" y="0"/>
                </a:moveTo>
                <a:lnTo>
                  <a:pt x="10316537" y="0"/>
                </a:lnTo>
                <a:lnTo>
                  <a:pt x="10316537" y="6037084"/>
                </a:lnTo>
                <a:lnTo>
                  <a:pt x="0" y="60370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725875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Шаблонні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рядки</a:t>
            </a:r>
            <a:endParaRPr lang="en-US" sz="6399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8249140" y="2604790"/>
            <a:ext cx="10316537" cy="6037084"/>
          </a:xfrm>
          <a:custGeom>
            <a:avLst/>
            <a:gdLst/>
            <a:ahLst/>
            <a:cxnLst/>
            <a:rect l="l" t="t" r="r" b="b"/>
            <a:pathLst>
              <a:path w="10316537" h="6037084">
                <a:moveTo>
                  <a:pt x="0" y="0"/>
                </a:moveTo>
                <a:lnTo>
                  <a:pt x="10316536" y="0"/>
                </a:lnTo>
                <a:lnTo>
                  <a:pt x="10316536" y="6037084"/>
                </a:lnTo>
                <a:lnTo>
                  <a:pt x="0" y="6037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-418348" y="2566545"/>
            <a:ext cx="9854718" cy="6113575"/>
          </a:xfrm>
          <a:custGeom>
            <a:avLst/>
            <a:gdLst/>
            <a:ahLst/>
            <a:cxnLst/>
            <a:rect l="l" t="t" r="r" b="b"/>
            <a:pathLst>
              <a:path w="9854718" h="6113575">
                <a:moveTo>
                  <a:pt x="0" y="0"/>
                </a:moveTo>
                <a:lnTo>
                  <a:pt x="9854718" y="0"/>
                </a:lnTo>
                <a:lnTo>
                  <a:pt x="9854718" y="6113575"/>
                </a:lnTo>
                <a:lnTo>
                  <a:pt x="0" y="611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7258753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Деструктуризація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1870834" y="2952894"/>
            <a:ext cx="14546333" cy="6305406"/>
          </a:xfrm>
          <a:custGeom>
            <a:avLst/>
            <a:gdLst/>
            <a:ahLst/>
            <a:cxnLst/>
            <a:rect l="l" t="t" r="r" b="b"/>
            <a:pathLst>
              <a:path w="14546333" h="6305406">
                <a:moveTo>
                  <a:pt x="0" y="0"/>
                </a:moveTo>
                <a:lnTo>
                  <a:pt x="14546332" y="0"/>
                </a:lnTo>
                <a:lnTo>
                  <a:pt x="14546332" y="6305406"/>
                </a:lnTo>
                <a:lnTo>
                  <a:pt x="0" y="6305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TextBox 5"/>
          <p:cNvSpPr txBox="1"/>
          <p:nvPr/>
        </p:nvSpPr>
        <p:spPr>
          <a:xfrm>
            <a:off x="1166399" y="1233825"/>
            <a:ext cx="931229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Оператори spread і rest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-477212" y="1638226"/>
            <a:ext cx="12142817" cy="5847095"/>
          </a:xfrm>
          <a:custGeom>
            <a:avLst/>
            <a:gdLst/>
            <a:ahLst/>
            <a:cxnLst/>
            <a:rect l="l" t="t" r="r" b="b"/>
            <a:pathLst>
              <a:path w="12142817" h="5847095">
                <a:moveTo>
                  <a:pt x="0" y="0"/>
                </a:moveTo>
                <a:lnTo>
                  <a:pt x="12142817" y="0"/>
                </a:lnTo>
                <a:lnTo>
                  <a:pt x="12142817" y="5847095"/>
                </a:lnTo>
                <a:lnTo>
                  <a:pt x="0" y="5847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5594196" y="4860802"/>
            <a:ext cx="13118234" cy="6009831"/>
          </a:xfrm>
          <a:custGeom>
            <a:avLst/>
            <a:gdLst/>
            <a:ahLst/>
            <a:cxnLst/>
            <a:rect l="l" t="t" r="r" b="b"/>
            <a:pathLst>
              <a:path w="13118234" h="6009831">
                <a:moveTo>
                  <a:pt x="0" y="0"/>
                </a:moveTo>
                <a:lnTo>
                  <a:pt x="13118234" y="0"/>
                </a:lnTo>
                <a:lnTo>
                  <a:pt x="13118234" y="6009831"/>
                </a:lnTo>
                <a:lnTo>
                  <a:pt x="0" y="60098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1166399" y="1233825"/>
            <a:ext cx="954923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Класи та наслідування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1958756" y="2319040"/>
            <a:ext cx="14370488" cy="6660077"/>
          </a:xfrm>
          <a:custGeom>
            <a:avLst/>
            <a:gdLst/>
            <a:ahLst/>
            <a:cxnLst/>
            <a:rect l="l" t="t" r="r" b="b"/>
            <a:pathLst>
              <a:path w="14370488" h="6660077">
                <a:moveTo>
                  <a:pt x="0" y="0"/>
                </a:moveTo>
                <a:lnTo>
                  <a:pt x="14370488" y="0"/>
                </a:lnTo>
                <a:lnTo>
                  <a:pt x="14370488" y="6660077"/>
                </a:lnTo>
                <a:lnTo>
                  <a:pt x="0" y="6660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TextBox 5"/>
          <p:cNvSpPr txBox="1"/>
          <p:nvPr/>
        </p:nvSpPr>
        <p:spPr>
          <a:xfrm>
            <a:off x="1166399" y="1233825"/>
            <a:ext cx="9549237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Модулі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Freeform 3"/>
          <p:cNvSpPr/>
          <p:nvPr/>
        </p:nvSpPr>
        <p:spPr>
          <a:xfrm>
            <a:off x="-414262" y="1575288"/>
            <a:ext cx="10522377" cy="6187577"/>
          </a:xfrm>
          <a:custGeom>
            <a:avLst/>
            <a:gdLst/>
            <a:ahLst/>
            <a:cxnLst/>
            <a:rect l="l" t="t" r="r" b="b"/>
            <a:pathLst>
              <a:path w="10522377" h="6187577">
                <a:moveTo>
                  <a:pt x="0" y="0"/>
                </a:moveTo>
                <a:lnTo>
                  <a:pt x="10522377" y="0"/>
                </a:lnTo>
                <a:lnTo>
                  <a:pt x="10522377" y="6187578"/>
                </a:lnTo>
                <a:lnTo>
                  <a:pt x="0" y="6187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4" name="AutoShape 4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5" name="Freeform 5"/>
          <p:cNvSpPr/>
          <p:nvPr/>
        </p:nvSpPr>
        <p:spPr>
          <a:xfrm>
            <a:off x="5917902" y="3955856"/>
            <a:ext cx="12370098" cy="6883693"/>
          </a:xfrm>
          <a:custGeom>
            <a:avLst/>
            <a:gdLst/>
            <a:ahLst/>
            <a:cxnLst/>
            <a:rect l="l" t="t" r="r" b="b"/>
            <a:pathLst>
              <a:path w="12370098" h="6883693">
                <a:moveTo>
                  <a:pt x="0" y="0"/>
                </a:moveTo>
                <a:lnTo>
                  <a:pt x="12370098" y="0"/>
                </a:lnTo>
                <a:lnTo>
                  <a:pt x="12370098" y="6883693"/>
                </a:lnTo>
                <a:lnTo>
                  <a:pt x="0" y="68836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6" name="TextBox 6"/>
          <p:cNvSpPr txBox="1"/>
          <p:nvPr/>
        </p:nvSpPr>
        <p:spPr>
          <a:xfrm>
            <a:off x="1166399" y="1139900"/>
            <a:ext cx="1626488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Асинхронність (від callback до Promise)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2350537" y="1891093"/>
            <a:ext cx="13586925" cy="8395907"/>
          </a:xfrm>
          <a:custGeom>
            <a:avLst/>
            <a:gdLst/>
            <a:ahLst/>
            <a:cxnLst/>
            <a:rect l="l" t="t" r="r" b="b"/>
            <a:pathLst>
              <a:path w="13586925" h="8395907">
                <a:moveTo>
                  <a:pt x="0" y="0"/>
                </a:moveTo>
                <a:lnTo>
                  <a:pt x="13586926" y="0"/>
                </a:lnTo>
                <a:lnTo>
                  <a:pt x="13586926" y="8395907"/>
                </a:lnTo>
                <a:lnTo>
                  <a:pt x="0" y="8395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TextBox 5"/>
          <p:cNvSpPr txBox="1"/>
          <p:nvPr/>
        </p:nvSpPr>
        <p:spPr>
          <a:xfrm>
            <a:off x="1166399" y="1139900"/>
            <a:ext cx="6567115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async/await (ES8)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284588" y="2108046"/>
          <a:ext cx="13718824" cy="8014290"/>
        </p:xfrm>
        <a:graphic>
          <a:graphicData uri="http://schemas.openxmlformats.org/drawingml/2006/table">
            <a:tbl>
              <a:tblPr/>
              <a:tblGrid>
                <a:gridCol w="3285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9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6492">
                <a:tc>
                  <a:txBody>
                    <a:bodyPr/>
                    <a:lstStyle/>
                    <a:p>
                      <a:pPr algn="ctr">
                        <a:lnSpc>
                          <a:spcPts val="3033"/>
                        </a:lnSpc>
                        <a:defRPr/>
                      </a:pPr>
                      <a:r>
                        <a:rPr lang="en-US" sz="2166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Версія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3"/>
                        </a:lnSpc>
                        <a:defRPr/>
                      </a:pPr>
                      <a:r>
                        <a:rPr lang="en-US" sz="2166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Рік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33"/>
                        </a:lnSpc>
                        <a:defRPr/>
                      </a:pPr>
                      <a:r>
                        <a:rPr lang="en-US" sz="2166" b="1">
                          <a:solidFill>
                            <a:srgbClr val="FFFFFF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Нововведення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1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492"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ES7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2016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**, Array.includes()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492"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ES8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2017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async/await, Object.entries()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6492"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ES9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2018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Spread/Rest у об’єктах, Promise.finally()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6492"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ES10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2019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flat(), flatMap(), trimStart()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75848"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ES11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2020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??, ?., BigInt, globalThis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50004"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ES12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2021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174"/>
                        </a:lnSpc>
                        <a:defRPr/>
                      </a:pPr>
                      <a:r>
                        <a:rPr lang="en-US" sz="36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`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5978"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ES13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2022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4"/>
                        </a:lnSpc>
                        <a:defRPr/>
                      </a:pPr>
                      <a:r>
                        <a:rPr lang="en-US" sz="1896">
                          <a:solidFill>
                            <a:srgbClr val="000000"/>
                          </a:solidFill>
                          <a:latin typeface="Open Sauce"/>
                          <a:ea typeface="Open Sauce"/>
                          <a:cs typeface="Open Sauce"/>
                          <a:sym typeface="Open Sauce"/>
                        </a:rPr>
                        <a:t>Array.at(), top-level await</a:t>
                      </a:r>
                      <a:endParaRPr lang="en-US" sz="1100"/>
                    </a:p>
                  </a:txBody>
                  <a:tcPr marL="172004" marR="172004" marT="172004" marB="172004" anchor="ctr">
                    <a:lnL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2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166399" y="1022831"/>
            <a:ext cx="10399168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Версії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ES7–ES13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Freeform 4"/>
          <p:cNvSpPr/>
          <p:nvPr/>
        </p:nvSpPr>
        <p:spPr>
          <a:xfrm>
            <a:off x="6204867" y="1370144"/>
            <a:ext cx="12773503" cy="9484645"/>
          </a:xfrm>
          <a:custGeom>
            <a:avLst/>
            <a:gdLst/>
            <a:ahLst/>
            <a:cxnLst/>
            <a:rect l="l" t="t" r="r" b="b"/>
            <a:pathLst>
              <a:path w="12773503" h="9484645">
                <a:moveTo>
                  <a:pt x="0" y="0"/>
                </a:moveTo>
                <a:lnTo>
                  <a:pt x="12773504" y="0"/>
                </a:lnTo>
                <a:lnTo>
                  <a:pt x="12773504" y="9484644"/>
                </a:lnTo>
                <a:lnTo>
                  <a:pt x="0" y="9484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5" name="TextBox 5"/>
          <p:cNvSpPr txBox="1"/>
          <p:nvPr/>
        </p:nvSpPr>
        <p:spPr>
          <a:xfrm>
            <a:off x="1028700" y="1253229"/>
            <a:ext cx="9243981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Питання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до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аудиторії</a:t>
            </a:r>
            <a:endParaRPr lang="en-US" sz="6399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0" y="3013548"/>
            <a:ext cx="6630006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spcBef>
                <a:spcPct val="0"/>
              </a:spcBef>
              <a:buAutoNum type="arabicPeriod"/>
            </a:pP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У </a:t>
            </a:r>
            <a:r>
              <a:rPr lang="en-US" sz="48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чому</a:t>
            </a: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різниця</a:t>
            </a: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між</a:t>
            </a: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let і var?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2998" y="6036266"/>
            <a:ext cx="5741869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 </a:t>
            </a:r>
            <a:r>
              <a:rPr lang="en-US" sz="42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Що</a:t>
            </a: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виведе</a:t>
            </a: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цей</a:t>
            </a: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код</a:t>
            </a: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у </a:t>
            </a:r>
            <a:r>
              <a:rPr lang="en-US" sz="42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консоль</a:t>
            </a: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і </a:t>
            </a:r>
            <a:r>
              <a:rPr lang="en-US" sz="42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чому</a:t>
            </a: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uk-UA"/>
          </a:p>
        </p:txBody>
      </p:sp>
      <p:sp>
        <p:nvSpPr>
          <p:cNvPr id="3" name="AutoShape 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TextBox 4"/>
          <p:cNvSpPr txBox="1"/>
          <p:nvPr/>
        </p:nvSpPr>
        <p:spPr>
          <a:xfrm>
            <a:off x="1028700" y="1088860"/>
            <a:ext cx="10183232" cy="1085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Відповіді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на</a:t>
            </a:r>
            <a:r>
              <a:rPr lang="en-US" sz="6399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6399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питання</a:t>
            </a:r>
            <a:endParaRPr lang="en-US" sz="6399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16588" y="2827733"/>
            <a:ext cx="16304291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6719"/>
              </a:lnSpc>
              <a:spcBef>
                <a:spcPct val="0"/>
              </a:spcBef>
              <a:buAutoNum type="arabicPeriod"/>
            </a:pP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let </a:t>
            </a:r>
            <a:r>
              <a:rPr lang="en-US" sz="48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має</a:t>
            </a: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блочну</a:t>
            </a: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8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область</a:t>
            </a:r>
            <a:r>
              <a:rPr lang="en-US" sz="48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, var — </a:t>
            </a:r>
            <a:r>
              <a:rPr lang="en-US" sz="48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функціональну</a:t>
            </a:r>
            <a:endParaRPr lang="en-US" sz="4800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3300" y="4157128"/>
            <a:ext cx="16241401" cy="687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 </a:t>
            </a:r>
            <a:r>
              <a:rPr lang="en-US" sz="42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Виведе</a:t>
            </a: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:       </a:t>
            </a:r>
            <a:r>
              <a:rPr lang="uk-UA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</a:t>
            </a:r>
            <a:r>
              <a:rPr lang="en-US" sz="4200" b="1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Мій</a:t>
            </a:r>
            <a:r>
              <a:rPr lang="en-US" sz="4200" b="1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4200" b="1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Об’єкт</a:t>
            </a:r>
            <a:endParaRPr lang="en-US" sz="4200" b="1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5880"/>
              </a:lnSpc>
            </a:pPr>
            <a:r>
              <a:rPr lang="en-US" sz="42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                            undefined</a:t>
            </a:r>
          </a:p>
          <a:p>
            <a:pPr algn="l">
              <a:lnSpc>
                <a:spcPts val="5880"/>
              </a:lnSpc>
            </a:pPr>
            <a:endParaRPr lang="en-US" sz="4200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5040"/>
              </a:lnSpc>
            </a:pP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Пояснення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: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regularFunc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—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звичайна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функція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тому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this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під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час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виклику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вказує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на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сам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об’єкт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obj.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arrowFunc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—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стрілкова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функція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яка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не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має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власного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this і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бере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його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з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лексичного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оточення</a:t>
            </a:r>
            <a:r>
              <a:rPr lang="en-US" sz="3600" dirty="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.</a:t>
            </a:r>
          </a:p>
          <a:p>
            <a:pPr algn="l">
              <a:lnSpc>
                <a:spcPts val="5880"/>
              </a:lnSpc>
            </a:pPr>
            <a:endParaRPr lang="en-US" sz="3600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algn="l">
              <a:lnSpc>
                <a:spcPts val="5880"/>
              </a:lnSpc>
              <a:spcBef>
                <a:spcPct val="0"/>
              </a:spcBef>
            </a:pPr>
            <a:endParaRPr lang="en-US" sz="3600" dirty="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uk-UA"/>
          </a:p>
        </p:txBody>
      </p:sp>
      <p:sp>
        <p:nvSpPr>
          <p:cNvPr id="3" name="TextBox 3"/>
          <p:cNvSpPr txBox="1"/>
          <p:nvPr/>
        </p:nvSpPr>
        <p:spPr>
          <a:xfrm>
            <a:off x="2242907" y="3783330"/>
            <a:ext cx="13802186" cy="2453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267</Words>
  <Application>Microsoft Office PowerPoint</Application>
  <PresentationFormat>Довільний</PresentationFormat>
  <Paragraphs>63</Paragraphs>
  <Slides>17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3" baseType="lpstr">
      <vt:lpstr>Open Sauce</vt:lpstr>
      <vt:lpstr>Arial</vt:lpstr>
      <vt:lpstr>Calibri</vt:lpstr>
      <vt:lpstr>DM Serif Display</vt:lpstr>
      <vt:lpstr>Open Sauce Bold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Огляд JavaScript ES6 (і новіших). Відмінності від попередніх версій стандарту</dc:title>
  <cp:lastModifiedBy>Лук`янчук Денис</cp:lastModifiedBy>
  <cp:revision>4</cp:revision>
  <dcterms:created xsi:type="dcterms:W3CDTF">2006-08-16T00:00:00Z</dcterms:created>
  <dcterms:modified xsi:type="dcterms:W3CDTF">2025-11-13T17:30:56Z</dcterms:modified>
  <dc:identifier>DAG3790q-qk</dc:identifier>
</cp:coreProperties>
</file>